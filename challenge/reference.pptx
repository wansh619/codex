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60" r:id="rId4"/>
    <p:sldId id="261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A3505-E3A8-4528-BFB7-8ADB6C9EE241}" v="83" dt="2025-12-02T18:40:10.5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ca5d3af02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ca5d3af02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ca5d3af0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ca5d3af02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ca5d3af02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ca5d3af02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lide_1">
            <a:extLst>
              <a:ext uri="{FF2B5EF4-FFF2-40B4-BE49-F238E27FC236}">
                <a16:creationId xmlns:a16="http://schemas.microsoft.com/office/drawing/2014/main" id="{87011C5D-33AD-6DF8-5C38-C65822BAD8FB}"/>
              </a:ext>
            </a:extLst>
          </p:cNvPr>
          <p:cNvGrpSpPr/>
          <p:nvPr/>
        </p:nvGrpSpPr>
        <p:grpSpPr>
          <a:xfrm>
            <a:off x="0" y="0"/>
            <a:ext cx="9213000" cy="5119600"/>
            <a:chOff x="0" y="0"/>
            <a:chExt cx="9213000" cy="5119600"/>
          </a:xfrm>
        </p:grpSpPr>
        <p:sp>
          <p:nvSpPr>
            <p:cNvPr id="56" name="Google Shape;56;p13"/>
            <p:cNvSpPr txBox="1"/>
            <p:nvPr/>
          </p:nvSpPr>
          <p:spPr>
            <a:xfrm>
              <a:off x="744900" y="1211400"/>
              <a:ext cx="1337100" cy="36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F1F1F"/>
                  </a:solidFill>
                  <a:highlight>
                    <a:srgbClr val="FFFFFF"/>
                  </a:highlight>
                </a:rPr>
                <a:t>Impact</a:t>
              </a:r>
              <a:endParaRPr sz="1000" b="1">
                <a:solidFill>
                  <a:srgbClr val="1F1F1F"/>
                </a:solidFill>
                <a:highlight>
                  <a:srgbClr val="FFFFFF"/>
                </a:highlight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endParaRPr sz="1000">
                <a:solidFill>
                  <a:schemeClr val="dk2"/>
                </a:solidFill>
              </a:endParaRPr>
            </a:p>
          </p:txBody>
        </p:sp>
        <p:sp>
          <p:nvSpPr>
            <p:cNvPr id="57" name="impact_range"/>
            <p:cNvSpPr txBox="1"/>
            <p:nvPr/>
          </p:nvSpPr>
          <p:spPr>
            <a:xfrm>
              <a:off x="302250" y="1572900"/>
              <a:ext cx="8592300" cy="46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22033"/>
                </a:lnSpc>
                <a:spcBef>
                  <a:spcPts val="1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rgbClr val="000A1B"/>
                  </a:solidFill>
                </a:rPr>
                <a:t>$5M - $8M</a:t>
              </a:r>
              <a:endParaRPr sz="2000">
                <a:solidFill>
                  <a:srgbClr val="000A1B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60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>
                <a:solidFill>
                  <a:schemeClr val="dk2"/>
                </a:solidFill>
              </a:endParaRPr>
            </a:p>
          </p:txBody>
        </p:sp>
        <p:cxnSp>
          <p:nvCxnSpPr>
            <p:cNvPr id="58" name="Google Shape;58;p13"/>
            <p:cNvCxnSpPr/>
            <p:nvPr/>
          </p:nvCxnSpPr>
          <p:spPr>
            <a:xfrm rot="10800000" flipH="1">
              <a:off x="434225" y="2138500"/>
              <a:ext cx="8500800" cy="45300"/>
            </a:xfrm>
            <a:prstGeom prst="straightConnector1">
              <a:avLst/>
            </a:prstGeom>
            <a:noFill/>
            <a:ln w="9525" cap="flat" cmpd="sng">
              <a:solidFill>
                <a:srgbClr val="C5C5C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9" name="waterfall_chart" title="image 1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2100" y="2713775"/>
              <a:ext cx="4355350" cy="1800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Google Shape;60;p13"/>
            <p:cNvSpPr txBox="1"/>
            <p:nvPr/>
          </p:nvSpPr>
          <p:spPr>
            <a:xfrm>
              <a:off x="321600" y="4611700"/>
              <a:ext cx="85008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1F1F1F"/>
                  </a:solidFill>
                  <a:highlight>
                    <a:srgbClr val="FFFFFF"/>
                  </a:highlight>
                </a:rPr>
                <a:t>Note:</a:t>
              </a:r>
              <a:r>
                <a:rPr lang="en" sz="1050">
                  <a:solidFill>
                    <a:srgbClr val="1F1F1F"/>
                  </a:solidFill>
                  <a:highlight>
                    <a:srgbClr val="FFFFFF"/>
                  </a:highlight>
                </a:rPr>
                <a:t> Chart shows gross revenue and cost impact (preliminary estimate using Innovaccer + industry benchmarks). To be refined with system data.</a:t>
              </a:r>
              <a:endParaRPr/>
            </a:p>
          </p:txBody>
        </p:sp>
        <p:pic>
          <p:nvPicPr>
            <p:cNvPr id="61" name="Google Shape;61;p13" title="Sparkle (1)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4225" y="1264725"/>
              <a:ext cx="264225" cy="2642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2" name="Google Shape;62;p13"/>
            <p:cNvGrpSpPr/>
            <p:nvPr/>
          </p:nvGrpSpPr>
          <p:grpSpPr>
            <a:xfrm>
              <a:off x="434235" y="2304291"/>
              <a:ext cx="1647746" cy="312264"/>
              <a:chOff x="412100" y="2391000"/>
              <a:chExt cx="1547906" cy="361500"/>
            </a:xfrm>
          </p:grpSpPr>
          <p:sp>
            <p:nvSpPr>
              <p:cNvPr id="63" name="Google Shape;63;p13"/>
              <p:cNvSpPr txBox="1"/>
              <p:nvPr/>
            </p:nvSpPr>
            <p:spPr>
              <a:xfrm>
                <a:off x="677506" y="2391000"/>
                <a:ext cx="1282500" cy="36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8975" tIns="78975" rIns="78975" bIns="78975" anchor="t" anchorCtr="0">
                <a:noAutofit/>
              </a:bodyPr>
              <a:lstStyle/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36" b="1">
                    <a:solidFill>
                      <a:srgbClr val="1F1F1F"/>
                    </a:solidFill>
                    <a:highlight>
                      <a:srgbClr val="FFFFFF"/>
                    </a:highlight>
                  </a:rPr>
                  <a:t>Top Value Pool</a:t>
                </a:r>
                <a:endParaRPr sz="1036" b="1">
                  <a:solidFill>
                    <a:srgbClr val="1F1F1F"/>
                  </a:solidFill>
                  <a:highlight>
                    <a:srgbClr val="FFFFFF"/>
                  </a:highlight>
                </a:endParaRPr>
              </a:p>
              <a:p>
                <a:pPr marL="0" lvl="0" indent="0" algn="l" rtl="0">
                  <a:lnSpc>
                    <a:spcPct val="150000"/>
                  </a:lnSpc>
                  <a:spcBef>
                    <a:spcPts val="518"/>
                  </a:spcBef>
                  <a:spcAft>
                    <a:spcPts val="518"/>
                  </a:spcAft>
                  <a:buNone/>
                </a:pPr>
                <a:endParaRPr sz="1209" b="1">
                  <a:solidFill>
                    <a:srgbClr val="1F1F1F"/>
                  </a:solidFill>
                  <a:highlight>
                    <a:srgbClr val="FFFFFF"/>
                  </a:highlight>
                </a:endParaRPr>
              </a:p>
            </p:txBody>
          </p:sp>
          <p:pic>
            <p:nvPicPr>
              <p:cNvPr id="64" name="Google Shape;64;p13" title="ChartLineUp (1).png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12100" y="2443463"/>
                <a:ext cx="285901" cy="25654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" name="Report_header">
              <a:extLst>
                <a:ext uri="{FF2B5EF4-FFF2-40B4-BE49-F238E27FC236}">
                  <a16:creationId xmlns:a16="http://schemas.microsoft.com/office/drawing/2014/main" id="{59AF0DCD-2AAB-DCE4-72E7-5D0CBABECC9E}"/>
                </a:ext>
              </a:extLst>
            </p:cNvPr>
            <p:cNvGrpSpPr/>
            <p:nvPr/>
          </p:nvGrpSpPr>
          <p:grpSpPr>
            <a:xfrm>
              <a:off x="0" y="0"/>
              <a:ext cx="9213000" cy="1074000"/>
              <a:chOff x="0" y="0"/>
              <a:chExt cx="9213000" cy="1074000"/>
            </a:xfrm>
          </p:grpSpPr>
          <p:sp>
            <p:nvSpPr>
              <p:cNvPr id="54" name="Google Shape;54;p13"/>
              <p:cNvSpPr/>
              <p:nvPr/>
            </p:nvSpPr>
            <p:spPr>
              <a:xfrm>
                <a:off x="0" y="0"/>
                <a:ext cx="9213000" cy="1074000"/>
              </a:xfrm>
              <a:prstGeom prst="rect">
                <a:avLst/>
              </a:prstGeom>
              <a:solidFill>
                <a:srgbClr val="000A1B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health_care_name"/>
              <p:cNvSpPr txBox="1"/>
              <p:nvPr/>
            </p:nvSpPr>
            <p:spPr>
              <a:xfrm>
                <a:off x="302250" y="432025"/>
                <a:ext cx="44652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b="1">
                    <a:solidFill>
                      <a:schemeClr val="lt1"/>
                    </a:solidFill>
                  </a:rPr>
                  <a:t>health_care_name</a:t>
                </a:r>
                <a:endParaRPr sz="2000" b="1">
                  <a:solidFill>
                    <a:schemeClr val="lt1"/>
                  </a:solidFill>
                </a:endParaRPr>
              </a:p>
            </p:txBody>
          </p:sp>
          <p:pic>
            <p:nvPicPr>
              <p:cNvPr id="65" name="Google Shape;65;p13" title="Vector (1).png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12100" y="265050"/>
                <a:ext cx="1046425" cy="1669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lide_2">
            <a:extLst>
              <a:ext uri="{FF2B5EF4-FFF2-40B4-BE49-F238E27FC236}">
                <a16:creationId xmlns:a16="http://schemas.microsoft.com/office/drawing/2014/main" id="{D860704E-F72B-CF7B-2CA8-2BC563C3A890}"/>
              </a:ext>
            </a:extLst>
          </p:cNvPr>
          <p:cNvGrpSpPr/>
          <p:nvPr/>
        </p:nvGrpSpPr>
        <p:grpSpPr>
          <a:xfrm>
            <a:off x="11300" y="0"/>
            <a:ext cx="9132834" cy="4968525"/>
            <a:chOff x="11300" y="0"/>
            <a:chExt cx="9132834" cy="4968525"/>
          </a:xfrm>
        </p:grpSpPr>
        <p:grpSp>
          <p:nvGrpSpPr>
            <p:cNvPr id="70" name="Google Shape;70;p14"/>
            <p:cNvGrpSpPr/>
            <p:nvPr/>
          </p:nvGrpSpPr>
          <p:grpSpPr>
            <a:xfrm>
              <a:off x="253530" y="1902269"/>
              <a:ext cx="8004801" cy="486960"/>
              <a:chOff x="271525" y="2841200"/>
              <a:chExt cx="8374975" cy="708305"/>
            </a:xfrm>
          </p:grpSpPr>
          <p:sp>
            <p:nvSpPr>
              <p:cNvPr id="71" name="Google Shape;71;p14"/>
              <p:cNvSpPr/>
              <p:nvPr/>
            </p:nvSpPr>
            <p:spPr>
              <a:xfrm>
                <a:off x="271525" y="2841200"/>
                <a:ext cx="8374800" cy="689400"/>
              </a:xfrm>
              <a:prstGeom prst="rect">
                <a:avLst/>
              </a:prstGeom>
              <a:noFill/>
              <a:ln w="5150" cap="flat" cmpd="sng">
                <a:solidFill>
                  <a:srgbClr val="E5E5E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9375" tIns="49375" rIns="49375" bIns="493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56"/>
              </a:p>
            </p:txBody>
          </p:sp>
          <p:sp>
            <p:nvSpPr>
              <p:cNvPr id="72" name="progress_bar"/>
              <p:cNvSpPr/>
              <p:nvPr/>
            </p:nvSpPr>
            <p:spPr>
              <a:xfrm>
                <a:off x="286025" y="2850636"/>
                <a:ext cx="6516900" cy="689400"/>
              </a:xfrm>
              <a:prstGeom prst="rect">
                <a:avLst/>
              </a:prstGeom>
              <a:solidFill>
                <a:srgbClr val="E7F2F7"/>
              </a:solidFill>
              <a:ln w="5150" cap="flat" cmpd="sng">
                <a:solidFill>
                  <a:srgbClr val="E5E5E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9375" tIns="49375" rIns="49375" bIns="493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56"/>
              </a:p>
            </p:txBody>
          </p:sp>
          <p:sp>
            <p:nvSpPr>
              <p:cNvPr id="73" name="value_lever_name"/>
              <p:cNvSpPr txBox="1"/>
              <p:nvPr/>
            </p:nvSpPr>
            <p:spPr>
              <a:xfrm>
                <a:off x="300550" y="2841200"/>
                <a:ext cx="1930500" cy="68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375" tIns="49375" rIns="49375" bIns="493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48" b="1">
                    <a:solidFill>
                      <a:schemeClr val="dk2"/>
                    </a:solidFill>
                  </a:rPr>
                  <a:t>Infrastructure Rationalization</a:t>
                </a:r>
                <a:endParaRPr sz="648" b="1">
                  <a:solidFill>
                    <a:schemeClr val="dk2"/>
                  </a:solidFill>
                </a:endParaRPr>
              </a:p>
            </p:txBody>
          </p:sp>
          <p:sp>
            <p:nvSpPr>
              <p:cNvPr id="74" name="lever_impact"/>
              <p:cNvSpPr/>
              <p:nvPr/>
            </p:nvSpPr>
            <p:spPr>
              <a:xfrm>
                <a:off x="2245475" y="2841200"/>
                <a:ext cx="1538400" cy="68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375" tIns="49375" rIns="49375" bIns="493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6"/>
                  <a:t>$M - $M</a:t>
                </a:r>
                <a:endParaRPr sz="756"/>
              </a:p>
            </p:txBody>
          </p:sp>
          <p:sp>
            <p:nvSpPr>
              <p:cNvPr id="75" name="lever_value_area"/>
              <p:cNvSpPr txBox="1"/>
              <p:nvPr/>
            </p:nvSpPr>
            <p:spPr>
              <a:xfrm>
                <a:off x="3798500" y="2860088"/>
                <a:ext cx="2351400" cy="68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375" tIns="49375" rIns="49375" bIns="493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48">
                    <a:solidFill>
                      <a:schemeClr val="dk2"/>
                    </a:solidFill>
                  </a:rPr>
                  <a:t>Operating Expense - Reduced Avoidable ED Utilization</a:t>
                </a:r>
                <a:endParaRPr sz="648">
                  <a:solidFill>
                    <a:schemeClr val="dk2"/>
                  </a:solidFill>
                </a:endParaRPr>
              </a:p>
            </p:txBody>
          </p:sp>
          <p:sp>
            <p:nvSpPr>
              <p:cNvPr id="76" name="lever_calculation"/>
              <p:cNvSpPr txBox="1"/>
              <p:nvPr/>
            </p:nvSpPr>
            <p:spPr>
              <a:xfrm>
                <a:off x="6149900" y="2841205"/>
                <a:ext cx="2496600" cy="70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375" tIns="49375" rIns="49375" bIns="493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48">
                    <a:solidFill>
                      <a:schemeClr val="dk2"/>
                    </a:solidFill>
                  </a:rPr>
                  <a:t>10-15% reduction in preventable ED visits (28% of ED visits) x Avg. cost per ED visit</a:t>
                </a:r>
                <a:endParaRPr sz="648">
                  <a:solidFill>
                    <a:schemeClr val="dk2"/>
                  </a:solidFill>
                </a:endParaRPr>
              </a:p>
            </p:txBody>
          </p:sp>
        </p:grpSp>
        <p:sp>
          <p:nvSpPr>
            <p:cNvPr id="77" name="Google Shape;77;p14"/>
            <p:cNvSpPr txBox="1"/>
            <p:nvPr/>
          </p:nvSpPr>
          <p:spPr>
            <a:xfrm>
              <a:off x="561975" y="1231425"/>
              <a:ext cx="7696200" cy="28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5550" tIns="65550" rIns="65550" bIns="6555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3"/>
                <a:t>Lever Breakdown</a:t>
              </a:r>
              <a:endParaRPr sz="1003"/>
            </a:p>
          </p:txBody>
        </p:sp>
        <p:grpSp>
          <p:nvGrpSpPr>
            <p:cNvPr id="78" name="Google Shape;78;p14"/>
            <p:cNvGrpSpPr/>
            <p:nvPr/>
          </p:nvGrpSpPr>
          <p:grpSpPr>
            <a:xfrm>
              <a:off x="253351" y="1577883"/>
              <a:ext cx="8014029" cy="333399"/>
              <a:chOff x="305217" y="2114074"/>
              <a:chExt cx="8351427" cy="824022"/>
            </a:xfrm>
          </p:grpSpPr>
          <p:sp>
            <p:nvSpPr>
              <p:cNvPr id="79" name="Google Shape;79;p14"/>
              <p:cNvSpPr txBox="1"/>
              <p:nvPr/>
            </p:nvSpPr>
            <p:spPr>
              <a:xfrm>
                <a:off x="305217" y="2125397"/>
                <a:ext cx="2034900" cy="81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375" tIns="49375" rIns="49375" bIns="493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48" b="1">
                    <a:solidFill>
                      <a:srgbClr val="1F1F1F"/>
                    </a:solidFill>
                  </a:rPr>
                  <a:t>Value Lever</a:t>
                </a:r>
                <a:endParaRPr sz="648" b="1">
                  <a:solidFill>
                    <a:srgbClr val="1F1F1F"/>
                  </a:solidFill>
                </a:endParaRPr>
              </a:p>
            </p:txBody>
          </p:sp>
          <p:sp>
            <p:nvSpPr>
              <p:cNvPr id="80" name="Google Shape;80;p14"/>
              <p:cNvSpPr txBox="1"/>
              <p:nvPr/>
            </p:nvSpPr>
            <p:spPr>
              <a:xfrm>
                <a:off x="2351320" y="2125222"/>
                <a:ext cx="1538400" cy="80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375" tIns="49375" rIns="49375" bIns="493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48" b="1">
                    <a:solidFill>
                      <a:srgbClr val="1F1F1F"/>
                    </a:solidFill>
                  </a:rPr>
                  <a:t>Impact</a:t>
                </a:r>
                <a:endParaRPr sz="648" b="1">
                  <a:solidFill>
                    <a:srgbClr val="1F1F1F"/>
                  </a:solidFill>
                </a:endParaRPr>
              </a:p>
            </p:txBody>
          </p:sp>
          <p:sp>
            <p:nvSpPr>
              <p:cNvPr id="81" name="Google Shape;81;p14"/>
              <p:cNvSpPr txBox="1"/>
              <p:nvPr/>
            </p:nvSpPr>
            <p:spPr>
              <a:xfrm>
                <a:off x="3900031" y="2114076"/>
                <a:ext cx="2249700" cy="80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375" tIns="49375" rIns="49375" bIns="493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48" b="1">
                    <a:solidFill>
                      <a:srgbClr val="1F1F1F"/>
                    </a:solidFill>
                  </a:rPr>
                  <a:t>Value Area</a:t>
                </a:r>
                <a:endParaRPr sz="648" b="1">
                  <a:solidFill>
                    <a:srgbClr val="1F1F1F"/>
                  </a:solidFill>
                </a:endParaRPr>
              </a:p>
            </p:txBody>
          </p:sp>
          <p:sp>
            <p:nvSpPr>
              <p:cNvPr id="82" name="Google Shape;82;p14"/>
              <p:cNvSpPr txBox="1"/>
              <p:nvPr/>
            </p:nvSpPr>
            <p:spPr>
              <a:xfrm>
                <a:off x="6160044" y="2114074"/>
                <a:ext cx="2496600" cy="80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375" tIns="49375" rIns="49375" bIns="493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48" b="1">
                    <a:solidFill>
                      <a:srgbClr val="1F1F1F"/>
                    </a:solidFill>
                  </a:rPr>
                  <a:t>Calculation</a:t>
                </a:r>
                <a:endParaRPr sz="648" b="1">
                  <a:solidFill>
                    <a:srgbClr val="1F1F1F"/>
                  </a:solidFill>
                </a:endParaRPr>
              </a:p>
            </p:txBody>
          </p:sp>
        </p:grpSp>
        <p:pic>
          <p:nvPicPr>
            <p:cNvPr id="83" name="Google Shape;83;p14" title="ChartLineUp (1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3524" y="1271595"/>
              <a:ext cx="256579" cy="256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14"/>
            <p:cNvSpPr txBox="1"/>
            <p:nvPr/>
          </p:nvSpPr>
          <p:spPr>
            <a:xfrm>
              <a:off x="253350" y="4460625"/>
              <a:ext cx="85008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1F1F1F"/>
                  </a:solidFill>
                  <a:highlight>
                    <a:srgbClr val="FFFFFF"/>
                  </a:highlight>
                </a:rPr>
                <a:t>Note:</a:t>
              </a:r>
              <a:r>
                <a:rPr lang="en" sz="1050">
                  <a:solidFill>
                    <a:srgbClr val="1F1F1F"/>
                  </a:solidFill>
                  <a:highlight>
                    <a:srgbClr val="FFFFFF"/>
                  </a:highlight>
                </a:rPr>
                <a:t> Chart shows gross revenue and cost impact (preliminary estimate using Innovaccer + industry benchmarks). To be refined with system data.</a:t>
              </a:r>
              <a:endParaRPr/>
            </a:p>
          </p:txBody>
        </p:sp>
        <p:grpSp>
          <p:nvGrpSpPr>
            <p:cNvPr id="99" name="Product Header"/>
            <p:cNvGrpSpPr/>
            <p:nvPr/>
          </p:nvGrpSpPr>
          <p:grpSpPr>
            <a:xfrm>
              <a:off x="11300" y="0"/>
              <a:ext cx="9132834" cy="1014697"/>
              <a:chOff x="11300" y="0"/>
              <a:chExt cx="10089300" cy="1367700"/>
            </a:xfrm>
          </p:grpSpPr>
          <p:sp>
            <p:nvSpPr>
              <p:cNvPr id="100" name="Google Shape;100;p14"/>
              <p:cNvSpPr/>
              <p:nvPr/>
            </p:nvSpPr>
            <p:spPr>
              <a:xfrm>
                <a:off x="11300" y="0"/>
                <a:ext cx="10089300" cy="13677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7850" tIns="67850" rIns="67850" bIns="678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38"/>
              </a:p>
            </p:txBody>
          </p:sp>
          <p:grpSp>
            <p:nvGrpSpPr>
              <p:cNvPr id="101" name="Google Shape;101;p14"/>
              <p:cNvGrpSpPr/>
              <p:nvPr/>
            </p:nvGrpSpPr>
            <p:grpSpPr>
              <a:xfrm>
                <a:off x="231525" y="306250"/>
                <a:ext cx="4634267" cy="894234"/>
                <a:chOff x="231525" y="306250"/>
                <a:chExt cx="4634267" cy="894234"/>
              </a:xfrm>
            </p:grpSpPr>
            <p:grpSp>
              <p:nvGrpSpPr>
                <p:cNvPr id="102" name="Google Shape;102;p14"/>
                <p:cNvGrpSpPr/>
                <p:nvPr/>
              </p:nvGrpSpPr>
              <p:grpSpPr>
                <a:xfrm>
                  <a:off x="864600" y="306250"/>
                  <a:ext cx="4001192" cy="894234"/>
                  <a:chOff x="661100" y="283575"/>
                  <a:chExt cx="4001192" cy="894234"/>
                </a:xfrm>
              </p:grpSpPr>
              <p:sp>
                <p:nvSpPr>
                  <p:cNvPr id="103" name="product_subtitle"/>
                  <p:cNvSpPr txBox="1"/>
                  <p:nvPr/>
                </p:nvSpPr>
                <p:spPr>
                  <a:xfrm>
                    <a:off x="661100" y="665814"/>
                    <a:ext cx="4001192" cy="51199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7850" tIns="67850" rIns="67850" bIns="67850" anchor="t" anchorCtr="0">
                    <a:spAutoFit/>
                  </a:bodyPr>
                  <a:lstStyle/>
                  <a:p>
                    <a:pPr marL="0" lvl="0" indent="0" algn="l" rtl="0">
                      <a:lnSpc>
                        <a:spcPct val="160000"/>
                      </a:lnSpc>
                      <a:spcBef>
                        <a:spcPts val="0"/>
                      </a:spcBef>
                      <a:spcAft>
                        <a:spcPts val="445"/>
                      </a:spcAft>
                      <a:buNone/>
                    </a:pPr>
                    <a:r>
                      <a:rPr lang="en" sz="778">
                        <a:solidFill>
                          <a:srgbClr val="000A1B"/>
                        </a:solidFill>
                      </a:rPr>
                      <a:t>AI-enabled IT ops optimization &amp; consolidation</a:t>
                    </a:r>
                    <a:endParaRPr sz="741"/>
                  </a:p>
                </p:txBody>
              </p:sp>
              <p:sp>
                <p:nvSpPr>
                  <p:cNvPr id="104" name="product_title"/>
                  <p:cNvSpPr txBox="1"/>
                  <p:nvPr/>
                </p:nvSpPr>
                <p:spPr>
                  <a:xfrm>
                    <a:off x="661100" y="283575"/>
                    <a:ext cx="3099600" cy="461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7850" tIns="67850" rIns="67850" bIns="67850" anchor="t" anchorCtr="0">
                    <a:sp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335">
                        <a:solidFill>
                          <a:schemeClr val="dk1"/>
                        </a:solidFill>
                      </a:rPr>
                      <a:t>Gravity — Data Platform</a:t>
                    </a:r>
                    <a:endParaRPr sz="1038"/>
                  </a:p>
                </p:txBody>
              </p:sp>
            </p:grpSp>
            <p:pic>
              <p:nvPicPr>
                <p:cNvPr id="105" name="product_logo" title="Frame 1171277249.png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231525" y="306252"/>
                  <a:ext cx="577175" cy="5771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lide_3">
            <a:extLst>
              <a:ext uri="{FF2B5EF4-FFF2-40B4-BE49-F238E27FC236}">
                <a16:creationId xmlns:a16="http://schemas.microsoft.com/office/drawing/2014/main" id="{ABA131CD-4FF2-4532-241B-0A982B1B7C60}"/>
              </a:ext>
            </a:extLst>
          </p:cNvPr>
          <p:cNvGrpSpPr/>
          <p:nvPr/>
        </p:nvGrpSpPr>
        <p:grpSpPr>
          <a:xfrm>
            <a:off x="456766" y="1229644"/>
            <a:ext cx="6552859" cy="2675426"/>
            <a:chOff x="456766" y="1229644"/>
            <a:chExt cx="6552859" cy="2675426"/>
          </a:xfrm>
        </p:grpSpPr>
        <p:grpSp>
          <p:nvGrpSpPr>
            <p:cNvPr id="203" name="key_assumptions_section"/>
            <p:cNvGrpSpPr/>
            <p:nvPr/>
          </p:nvGrpSpPr>
          <p:grpSpPr>
            <a:xfrm>
              <a:off x="456766" y="2890397"/>
              <a:ext cx="6552859" cy="1014673"/>
              <a:chOff x="456400" y="1834786"/>
              <a:chExt cx="8228100" cy="1014673"/>
            </a:xfrm>
          </p:grpSpPr>
          <p:sp>
            <p:nvSpPr>
              <p:cNvPr id="204" name="key_assumptions_content"/>
              <p:cNvSpPr txBox="1"/>
              <p:nvPr/>
            </p:nvSpPr>
            <p:spPr>
              <a:xfrm>
                <a:off x="456400" y="2148059"/>
                <a:ext cx="8228100" cy="70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77"/>
                  <a:t>Delivers measurable impact across cost, risk, and quality — enabling systems to thrive in value-based care. By unifying data, analytics, and AI across the enterprise, it transforms disconnected workflows into coordinated, intelligent operations.</a:t>
                </a:r>
                <a:endParaRPr sz="777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77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77"/>
                  <a:t>Innovaccer helps health systems achieve measurable, repeatable, and scalable impact—improving clinical outcomes, enhancing operational efficiency, and accelerating their journey toward data-driven, AI-enabled value-based care.</a:t>
                </a:r>
                <a:endParaRPr sz="777"/>
              </a:p>
            </p:txBody>
          </p:sp>
          <p:sp>
            <p:nvSpPr>
              <p:cNvPr id="205" name="Google Shape;205;p17"/>
              <p:cNvSpPr txBox="1"/>
              <p:nvPr/>
            </p:nvSpPr>
            <p:spPr>
              <a:xfrm>
                <a:off x="665808" y="1834786"/>
                <a:ext cx="2533200" cy="31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2800" tIns="62800" rIns="62800" bIns="62800" anchor="t" anchorCtr="0">
                <a:noAutofit/>
              </a:bodyPr>
              <a:lstStyle/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24" b="1">
                    <a:solidFill>
                      <a:srgbClr val="1F1F1F"/>
                    </a:solidFill>
                    <a:highlight>
                      <a:schemeClr val="lt1"/>
                    </a:highlight>
                  </a:rPr>
                  <a:t>Key Assumptions</a:t>
                </a:r>
                <a:endParaRPr sz="824" b="1">
                  <a:solidFill>
                    <a:srgbClr val="1F1F1F"/>
                  </a:solidFill>
                  <a:highlight>
                    <a:schemeClr val="lt1"/>
                  </a:highlight>
                </a:endParaRPr>
              </a:p>
              <a:p>
                <a:pPr marL="0" lvl="0" indent="0" algn="l" rtl="0">
                  <a:lnSpc>
                    <a:spcPct val="150000"/>
                  </a:lnSpc>
                  <a:spcBef>
                    <a:spcPts val="412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200" b="1">
                  <a:solidFill>
                    <a:srgbClr val="1F1F1F"/>
                  </a:solidFill>
                  <a:highlight>
                    <a:srgbClr val="FFFFFF"/>
                  </a:highlight>
                </a:endParaRPr>
              </a:p>
              <a:p>
                <a:pPr marL="0" lvl="0" indent="0" algn="l" rtl="0">
                  <a:lnSpc>
                    <a:spcPct val="115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50">
                  <a:solidFill>
                    <a:srgbClr val="1F1F1F"/>
                  </a:solidFill>
                  <a:highlight>
                    <a:srgbClr val="FFFFFF"/>
                  </a:highlight>
                </a:endParaRPr>
              </a:p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24" b="1">
                  <a:solidFill>
                    <a:srgbClr val="1F1F1F"/>
                  </a:solidFill>
                  <a:highlight>
                    <a:srgbClr val="FFFFFF"/>
                  </a:highlight>
                </a:endParaRPr>
              </a:p>
              <a:p>
                <a:pPr marL="0" lvl="0" indent="0" algn="l" rtl="0">
                  <a:spcBef>
                    <a:spcPts val="412"/>
                  </a:spcBef>
                  <a:spcAft>
                    <a:spcPts val="0"/>
                  </a:spcAft>
                  <a:buNone/>
                </a:pPr>
                <a:endParaRPr sz="824">
                  <a:solidFill>
                    <a:schemeClr val="dk2"/>
                  </a:solidFill>
                </a:endParaRPr>
              </a:p>
            </p:txBody>
          </p:sp>
          <p:pic>
            <p:nvPicPr>
              <p:cNvPr id="206" name="Google Shape;206;p17" title="Sparkle.png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56411" y="1873599"/>
                <a:ext cx="209398" cy="2093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7" name="Cross_suite_priorities_section"/>
            <p:cNvGrpSpPr/>
            <p:nvPr/>
          </p:nvGrpSpPr>
          <p:grpSpPr>
            <a:xfrm>
              <a:off x="456782" y="1229644"/>
              <a:ext cx="6121116" cy="1014672"/>
              <a:chOff x="456400" y="1834786"/>
              <a:chExt cx="8664000" cy="1014672"/>
            </a:xfrm>
          </p:grpSpPr>
          <p:sp>
            <p:nvSpPr>
              <p:cNvPr id="208" name="Cross_suite_Priorities_content"/>
              <p:cNvSpPr txBox="1"/>
              <p:nvPr/>
            </p:nvSpPr>
            <p:spPr>
              <a:xfrm>
                <a:off x="456400" y="2148058"/>
                <a:ext cx="8664000" cy="70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77"/>
                  <a:t>Delivers measurable impact across cost, risk, and quality — enabling systems to thrive in value-based care. By unifying data, analytics, and AI across the enterprise, it transforms disconnected workflows into coordinated, intelligent operations.</a:t>
                </a:r>
                <a:endParaRPr sz="777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77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77"/>
                  <a:t>Innovaccer helps health systems achieve measurable, repeatable, and scalable impact—improving clinical outcomes, enhancing operational efficiency, and accelerating their journey toward data-driven, AI-enabled value-based care.</a:t>
                </a:r>
                <a:endParaRPr sz="777"/>
              </a:p>
            </p:txBody>
          </p:sp>
          <p:sp>
            <p:nvSpPr>
              <p:cNvPr id="209" name="Google Shape;209;p17"/>
              <p:cNvSpPr txBox="1"/>
              <p:nvPr/>
            </p:nvSpPr>
            <p:spPr>
              <a:xfrm>
                <a:off x="665808" y="1834786"/>
                <a:ext cx="2533200" cy="31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2800" tIns="62800" rIns="62800" bIns="62800" anchor="t" anchorCtr="0">
                <a:noAutofit/>
              </a:bodyPr>
              <a:lstStyle/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24" b="1">
                    <a:solidFill>
                      <a:srgbClr val="1F1F1F"/>
                    </a:solidFill>
                    <a:highlight>
                      <a:srgbClr val="FFFFFF"/>
                    </a:highlight>
                  </a:rPr>
                  <a:t>Cross suite priorities</a:t>
                </a:r>
                <a:endParaRPr sz="824" b="1">
                  <a:solidFill>
                    <a:srgbClr val="1F1F1F"/>
                  </a:solidFill>
                  <a:highlight>
                    <a:srgbClr val="FFFFFF"/>
                  </a:highlight>
                </a:endParaRPr>
              </a:p>
              <a:p>
                <a:pPr marL="0" lvl="0" indent="0" algn="l" rtl="0">
                  <a:spcBef>
                    <a:spcPts val="412"/>
                  </a:spcBef>
                  <a:spcAft>
                    <a:spcPts val="0"/>
                  </a:spcAft>
                  <a:buNone/>
                </a:pPr>
                <a:endParaRPr sz="824">
                  <a:solidFill>
                    <a:schemeClr val="dk2"/>
                  </a:solidFill>
                </a:endParaRPr>
              </a:p>
            </p:txBody>
          </p:sp>
          <p:pic>
            <p:nvPicPr>
              <p:cNvPr id="210" name="Google Shape;210;p17" title="Sparkle.png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56411" y="1873599"/>
                <a:ext cx="209398" cy="2093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lide_4">
            <a:extLst>
              <a:ext uri="{FF2B5EF4-FFF2-40B4-BE49-F238E27FC236}">
                <a16:creationId xmlns:a16="http://schemas.microsoft.com/office/drawing/2014/main" id="{1DA82488-9E04-5A4B-D7DA-36F493BF7063}"/>
              </a:ext>
            </a:extLst>
          </p:cNvPr>
          <p:cNvGrpSpPr/>
          <p:nvPr/>
        </p:nvGrpSpPr>
        <p:grpSpPr>
          <a:xfrm>
            <a:off x="11300" y="0"/>
            <a:ext cx="9144000" cy="4472918"/>
            <a:chOff x="11300" y="0"/>
            <a:chExt cx="9144000" cy="4472918"/>
          </a:xfrm>
        </p:grpSpPr>
        <p:grpSp>
          <p:nvGrpSpPr>
            <p:cNvPr id="215" name="assumptions_header"/>
            <p:cNvGrpSpPr/>
            <p:nvPr/>
          </p:nvGrpSpPr>
          <p:grpSpPr>
            <a:xfrm>
              <a:off x="11300" y="0"/>
              <a:ext cx="9144000" cy="938242"/>
              <a:chOff x="11300" y="0"/>
              <a:chExt cx="9144000" cy="1367700"/>
            </a:xfrm>
          </p:grpSpPr>
          <p:sp>
            <p:nvSpPr>
              <p:cNvPr id="216" name="Google Shape;216;p18"/>
              <p:cNvSpPr/>
              <p:nvPr/>
            </p:nvSpPr>
            <p:spPr>
              <a:xfrm>
                <a:off x="11300" y="0"/>
                <a:ext cx="9144000" cy="13677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8"/>
              <p:cNvSpPr txBox="1"/>
              <p:nvPr/>
            </p:nvSpPr>
            <p:spPr>
              <a:xfrm>
                <a:off x="440875" y="306250"/>
                <a:ext cx="3527100" cy="67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dk1"/>
                    </a:solidFill>
                  </a:rPr>
                  <a:t>Assumptions</a:t>
                </a:r>
                <a:endParaRPr/>
              </a:p>
            </p:txBody>
          </p:sp>
        </p:grpSp>
        <p:grpSp>
          <p:nvGrpSpPr>
            <p:cNvPr id="219" name="Google Shape;219;p18"/>
            <p:cNvGrpSpPr/>
            <p:nvPr/>
          </p:nvGrpSpPr>
          <p:grpSpPr>
            <a:xfrm>
              <a:off x="447078" y="1231873"/>
              <a:ext cx="8435898" cy="342720"/>
              <a:chOff x="305229" y="2114115"/>
              <a:chExt cx="5844383" cy="700685"/>
            </a:xfrm>
          </p:grpSpPr>
          <p:sp>
            <p:nvSpPr>
              <p:cNvPr id="220" name="Google Shape;220;p18"/>
              <p:cNvSpPr txBox="1"/>
              <p:nvPr/>
            </p:nvSpPr>
            <p:spPr>
              <a:xfrm>
                <a:off x="305229" y="2125401"/>
                <a:ext cx="1901700" cy="68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7350" tIns="77350" rIns="77350" bIns="77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46">
                    <a:solidFill>
                      <a:srgbClr val="1F1F1F"/>
                    </a:solidFill>
                  </a:rPr>
                  <a:t>PARAMETER</a:t>
                </a:r>
                <a:endParaRPr sz="746">
                  <a:solidFill>
                    <a:srgbClr val="1F1F1F"/>
                  </a:solidFill>
                </a:endParaRPr>
              </a:p>
            </p:txBody>
          </p:sp>
          <p:sp>
            <p:nvSpPr>
              <p:cNvPr id="221" name="Google Shape;221;p18"/>
              <p:cNvSpPr txBox="1"/>
              <p:nvPr/>
            </p:nvSpPr>
            <p:spPr>
              <a:xfrm>
                <a:off x="2222353" y="2125244"/>
                <a:ext cx="1901700" cy="68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7350" tIns="77350" rIns="77350" bIns="77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46">
                    <a:solidFill>
                      <a:srgbClr val="1F1F1F"/>
                    </a:solidFill>
                  </a:rPr>
                  <a:t>MODEL ESTIMATE</a:t>
                </a:r>
                <a:endParaRPr sz="746">
                  <a:solidFill>
                    <a:srgbClr val="1F1F1F"/>
                  </a:solidFill>
                </a:endParaRPr>
              </a:p>
            </p:txBody>
          </p:sp>
          <p:sp>
            <p:nvSpPr>
              <p:cNvPr id="222" name="Google Shape;222;p18"/>
              <p:cNvSpPr txBox="1"/>
              <p:nvPr/>
            </p:nvSpPr>
            <p:spPr>
              <a:xfrm>
                <a:off x="4124011" y="2114115"/>
                <a:ext cx="2025600" cy="68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7350" tIns="77350" rIns="77350" bIns="77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46">
                    <a:solidFill>
                      <a:srgbClr val="1F1F1F"/>
                    </a:solidFill>
                  </a:rPr>
                  <a:t>USER INPUT (Overrite)</a:t>
                </a:r>
                <a:endParaRPr sz="746">
                  <a:solidFill>
                    <a:srgbClr val="1F1F1F"/>
                  </a:solidFill>
                </a:endParaRPr>
              </a:p>
            </p:txBody>
          </p:sp>
        </p:grpSp>
        <p:grpSp>
          <p:nvGrpSpPr>
            <p:cNvPr id="223" name="net_patient_service_revernue"/>
            <p:cNvGrpSpPr/>
            <p:nvPr/>
          </p:nvGrpSpPr>
          <p:grpSpPr>
            <a:xfrm>
              <a:off x="447087" y="1574558"/>
              <a:ext cx="8435628" cy="354296"/>
              <a:chOff x="942375" y="1628825"/>
              <a:chExt cx="6647426" cy="443700"/>
            </a:xfrm>
          </p:grpSpPr>
          <p:sp>
            <p:nvSpPr>
              <p:cNvPr id="224" name="Google Shape;224;p18"/>
              <p:cNvSpPr txBox="1"/>
              <p:nvPr/>
            </p:nvSpPr>
            <p:spPr>
              <a:xfrm>
                <a:off x="942375" y="1634970"/>
                <a:ext cx="2163000" cy="43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 b="1">
                    <a:solidFill>
                      <a:srgbClr val="1F1F1F"/>
                    </a:solidFill>
                  </a:rPr>
                  <a:t>Net Patient Service Revenue</a:t>
                </a:r>
                <a:endParaRPr sz="708" b="1">
                  <a:solidFill>
                    <a:srgbClr val="1F1F1F"/>
                  </a:solidFill>
                </a:endParaRPr>
              </a:p>
            </p:txBody>
          </p:sp>
          <p:sp>
            <p:nvSpPr>
              <p:cNvPr id="225" name="model_estimate_row_1"/>
              <p:cNvSpPr txBox="1"/>
              <p:nvPr/>
            </p:nvSpPr>
            <p:spPr>
              <a:xfrm>
                <a:off x="3122888" y="1634894"/>
                <a:ext cx="2163000" cy="20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 b="1">
                    <a:solidFill>
                      <a:srgbClr val="1F1F1F"/>
                    </a:solidFill>
                  </a:rPr>
                  <a:t>Impact</a:t>
                </a:r>
                <a:endParaRPr sz="708" b="1">
                  <a:solidFill>
                    <a:srgbClr val="1F1F1F"/>
                  </a:solidFill>
                </a:endParaRPr>
              </a:p>
            </p:txBody>
          </p:sp>
          <p:sp>
            <p:nvSpPr>
              <p:cNvPr id="226" name="user_input"/>
              <p:cNvSpPr txBox="1"/>
              <p:nvPr/>
            </p:nvSpPr>
            <p:spPr>
              <a:xfrm>
                <a:off x="5285801" y="1628825"/>
                <a:ext cx="2304000" cy="44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>
                    <a:solidFill>
                      <a:srgbClr val="1F1F1F"/>
                    </a:solidFill>
                  </a:rPr>
                  <a:t>Value Area</a:t>
                </a:r>
                <a:endParaRPr sz="708">
                  <a:solidFill>
                    <a:srgbClr val="1F1F1F"/>
                  </a:solidFill>
                </a:endParaRPr>
              </a:p>
            </p:txBody>
          </p:sp>
          <p:sp>
            <p:nvSpPr>
              <p:cNvPr id="227" name="model_estimate_row_2"/>
              <p:cNvSpPr txBox="1"/>
              <p:nvPr/>
            </p:nvSpPr>
            <p:spPr>
              <a:xfrm>
                <a:off x="3127763" y="1837756"/>
                <a:ext cx="2163000" cy="23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37">
                    <a:solidFill>
                      <a:srgbClr val="1F1F1F"/>
                    </a:solidFill>
                  </a:rPr>
                  <a:t>Impact</a:t>
                </a:r>
                <a:endParaRPr sz="537">
                  <a:solidFill>
                    <a:srgbClr val="1F1F1F"/>
                  </a:solidFill>
                </a:endParaRPr>
              </a:p>
            </p:txBody>
          </p:sp>
        </p:grpSp>
        <p:grpSp>
          <p:nvGrpSpPr>
            <p:cNvPr id="228" name="top_physicians"/>
            <p:cNvGrpSpPr/>
            <p:nvPr/>
          </p:nvGrpSpPr>
          <p:grpSpPr>
            <a:xfrm>
              <a:off x="447087" y="1928884"/>
              <a:ext cx="8435628" cy="354296"/>
              <a:chOff x="942375" y="1628825"/>
              <a:chExt cx="6647426" cy="443700"/>
            </a:xfrm>
          </p:grpSpPr>
          <p:sp>
            <p:nvSpPr>
              <p:cNvPr id="229" name="Google Shape;229;p18"/>
              <p:cNvSpPr txBox="1"/>
              <p:nvPr/>
            </p:nvSpPr>
            <p:spPr>
              <a:xfrm>
                <a:off x="942375" y="1634970"/>
                <a:ext cx="2163000" cy="43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 b="1">
                    <a:solidFill>
                      <a:srgbClr val="1F1F1F"/>
                    </a:solidFill>
                  </a:rPr>
                  <a:t>Total Physicians</a:t>
                </a:r>
                <a:endParaRPr sz="708" b="1">
                  <a:solidFill>
                    <a:srgbClr val="1F1F1F"/>
                  </a:solidFill>
                </a:endParaRPr>
              </a:p>
            </p:txBody>
          </p:sp>
          <p:sp>
            <p:nvSpPr>
              <p:cNvPr id="230" name="model_estimate_row_1"/>
              <p:cNvSpPr txBox="1"/>
              <p:nvPr/>
            </p:nvSpPr>
            <p:spPr>
              <a:xfrm>
                <a:off x="3122888" y="1634894"/>
                <a:ext cx="2163000" cy="20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 b="1">
                    <a:solidFill>
                      <a:srgbClr val="1F1F1F"/>
                    </a:solidFill>
                  </a:rPr>
                  <a:t>Impact</a:t>
                </a:r>
                <a:endParaRPr sz="708" b="1">
                  <a:solidFill>
                    <a:srgbClr val="1F1F1F"/>
                  </a:solidFill>
                </a:endParaRPr>
              </a:p>
            </p:txBody>
          </p:sp>
          <p:sp>
            <p:nvSpPr>
              <p:cNvPr id="231" name="user_input"/>
              <p:cNvSpPr txBox="1"/>
              <p:nvPr/>
            </p:nvSpPr>
            <p:spPr>
              <a:xfrm>
                <a:off x="5285801" y="1628825"/>
                <a:ext cx="2304000" cy="44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>
                    <a:solidFill>
                      <a:srgbClr val="1F1F1F"/>
                    </a:solidFill>
                  </a:rPr>
                  <a:t>Value Area</a:t>
                </a:r>
                <a:endParaRPr sz="708">
                  <a:solidFill>
                    <a:srgbClr val="1F1F1F"/>
                  </a:solidFill>
                </a:endParaRPr>
              </a:p>
            </p:txBody>
          </p:sp>
          <p:sp>
            <p:nvSpPr>
              <p:cNvPr id="232" name="model_estimate_row_2"/>
              <p:cNvSpPr txBox="1"/>
              <p:nvPr/>
            </p:nvSpPr>
            <p:spPr>
              <a:xfrm>
                <a:off x="3127763" y="1837756"/>
                <a:ext cx="2163000" cy="23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37">
                    <a:solidFill>
                      <a:srgbClr val="1F1F1F"/>
                    </a:solidFill>
                  </a:rPr>
                  <a:t>Impact</a:t>
                </a:r>
                <a:endParaRPr sz="537">
                  <a:solidFill>
                    <a:srgbClr val="1F1F1F"/>
                  </a:solidFill>
                </a:endParaRPr>
              </a:p>
            </p:txBody>
          </p:sp>
        </p:grpSp>
        <p:grpSp>
          <p:nvGrpSpPr>
            <p:cNvPr id="233" name="total_patient_treated"/>
            <p:cNvGrpSpPr/>
            <p:nvPr/>
          </p:nvGrpSpPr>
          <p:grpSpPr>
            <a:xfrm>
              <a:off x="447087" y="2283209"/>
              <a:ext cx="8435628" cy="354296"/>
              <a:chOff x="942375" y="1628825"/>
              <a:chExt cx="6647426" cy="443700"/>
            </a:xfrm>
          </p:grpSpPr>
          <p:sp>
            <p:nvSpPr>
              <p:cNvPr id="234" name="Google Shape;234;p18"/>
              <p:cNvSpPr txBox="1"/>
              <p:nvPr/>
            </p:nvSpPr>
            <p:spPr>
              <a:xfrm>
                <a:off x="942375" y="1634970"/>
                <a:ext cx="2163000" cy="43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 b="1">
                    <a:solidFill>
                      <a:srgbClr val="1F1F1F"/>
                    </a:solidFill>
                  </a:rPr>
                  <a:t>Total Patients Treated</a:t>
                </a:r>
                <a:endParaRPr sz="708" b="1">
                  <a:solidFill>
                    <a:srgbClr val="1F1F1F"/>
                  </a:solidFill>
                </a:endParaRPr>
              </a:p>
            </p:txBody>
          </p:sp>
          <p:sp>
            <p:nvSpPr>
              <p:cNvPr id="235" name="model_estimate_row_1"/>
              <p:cNvSpPr txBox="1"/>
              <p:nvPr/>
            </p:nvSpPr>
            <p:spPr>
              <a:xfrm>
                <a:off x="3122888" y="1634894"/>
                <a:ext cx="2163000" cy="20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 b="1">
                    <a:solidFill>
                      <a:srgbClr val="1F1F1F"/>
                    </a:solidFill>
                  </a:rPr>
                  <a:t>Impact</a:t>
                </a:r>
                <a:endParaRPr sz="708" b="1">
                  <a:solidFill>
                    <a:srgbClr val="1F1F1F"/>
                  </a:solidFill>
                </a:endParaRPr>
              </a:p>
            </p:txBody>
          </p:sp>
          <p:sp>
            <p:nvSpPr>
              <p:cNvPr id="236" name="user_input_1"/>
              <p:cNvSpPr txBox="1"/>
              <p:nvPr/>
            </p:nvSpPr>
            <p:spPr>
              <a:xfrm>
                <a:off x="5285801" y="1628825"/>
                <a:ext cx="2304000" cy="44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>
                    <a:solidFill>
                      <a:srgbClr val="1F1F1F"/>
                    </a:solidFill>
                  </a:rPr>
                  <a:t>Value Area</a:t>
                </a:r>
                <a:endParaRPr sz="708">
                  <a:solidFill>
                    <a:srgbClr val="1F1F1F"/>
                  </a:solidFill>
                </a:endParaRPr>
              </a:p>
            </p:txBody>
          </p:sp>
          <p:sp>
            <p:nvSpPr>
              <p:cNvPr id="237" name="model_estimate_row_2"/>
              <p:cNvSpPr txBox="1"/>
              <p:nvPr/>
            </p:nvSpPr>
            <p:spPr>
              <a:xfrm>
                <a:off x="3127763" y="1837756"/>
                <a:ext cx="2163000" cy="23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37">
                    <a:solidFill>
                      <a:srgbClr val="1F1F1F"/>
                    </a:solidFill>
                  </a:rPr>
                  <a:t>Impact</a:t>
                </a:r>
                <a:endParaRPr sz="537">
                  <a:solidFill>
                    <a:srgbClr val="1F1F1F"/>
                  </a:solidFill>
                </a:endParaRPr>
              </a:p>
            </p:txBody>
          </p:sp>
        </p:grpSp>
        <p:grpSp>
          <p:nvGrpSpPr>
            <p:cNvPr id="238" name="ffs_patient_tested"/>
            <p:cNvGrpSpPr/>
            <p:nvPr/>
          </p:nvGrpSpPr>
          <p:grpSpPr>
            <a:xfrm>
              <a:off x="447071" y="2637554"/>
              <a:ext cx="8435628" cy="354296"/>
              <a:chOff x="942375" y="1628825"/>
              <a:chExt cx="6647426" cy="443700"/>
            </a:xfrm>
          </p:grpSpPr>
          <p:sp>
            <p:nvSpPr>
              <p:cNvPr id="239" name="Google Shape;239;p18"/>
              <p:cNvSpPr txBox="1"/>
              <p:nvPr/>
            </p:nvSpPr>
            <p:spPr>
              <a:xfrm>
                <a:off x="942375" y="1634970"/>
                <a:ext cx="2163000" cy="43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 b="1">
                    <a:solidFill>
                      <a:srgbClr val="1F1F1F"/>
                    </a:solidFill>
                  </a:rPr>
                  <a:t>FFS Patients Treated</a:t>
                </a:r>
                <a:endParaRPr sz="708" b="1">
                  <a:solidFill>
                    <a:srgbClr val="1F1F1F"/>
                  </a:solidFill>
                </a:endParaRPr>
              </a:p>
            </p:txBody>
          </p:sp>
          <p:sp>
            <p:nvSpPr>
              <p:cNvPr id="240" name="model_estimate_row_1"/>
              <p:cNvSpPr txBox="1"/>
              <p:nvPr/>
            </p:nvSpPr>
            <p:spPr>
              <a:xfrm>
                <a:off x="3122888" y="1634894"/>
                <a:ext cx="2163000" cy="20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 b="1">
                    <a:solidFill>
                      <a:srgbClr val="1F1F1F"/>
                    </a:solidFill>
                  </a:rPr>
                  <a:t>Impact</a:t>
                </a:r>
                <a:endParaRPr sz="708" b="1">
                  <a:solidFill>
                    <a:srgbClr val="1F1F1F"/>
                  </a:solidFill>
                </a:endParaRPr>
              </a:p>
            </p:txBody>
          </p:sp>
          <p:sp>
            <p:nvSpPr>
              <p:cNvPr id="241" name="user_input"/>
              <p:cNvSpPr txBox="1"/>
              <p:nvPr/>
            </p:nvSpPr>
            <p:spPr>
              <a:xfrm>
                <a:off x="5285801" y="1628825"/>
                <a:ext cx="2304000" cy="44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>
                    <a:solidFill>
                      <a:srgbClr val="1F1F1F"/>
                    </a:solidFill>
                  </a:rPr>
                  <a:t>Value Area</a:t>
                </a:r>
                <a:endParaRPr sz="708">
                  <a:solidFill>
                    <a:srgbClr val="1F1F1F"/>
                  </a:solidFill>
                </a:endParaRPr>
              </a:p>
            </p:txBody>
          </p:sp>
          <p:sp>
            <p:nvSpPr>
              <p:cNvPr id="242" name="model_estimate_row_2"/>
              <p:cNvSpPr txBox="1"/>
              <p:nvPr/>
            </p:nvSpPr>
            <p:spPr>
              <a:xfrm>
                <a:off x="3127763" y="1837756"/>
                <a:ext cx="2163000" cy="23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37">
                    <a:solidFill>
                      <a:srgbClr val="1F1F1F"/>
                    </a:solidFill>
                  </a:rPr>
                  <a:t>Impact</a:t>
                </a:r>
                <a:endParaRPr sz="537">
                  <a:solidFill>
                    <a:srgbClr val="1F1F1F"/>
                  </a:solidFill>
                </a:endParaRPr>
              </a:p>
            </p:txBody>
          </p:sp>
        </p:grpSp>
        <p:grpSp>
          <p:nvGrpSpPr>
            <p:cNvPr id="243" name="vbc_lives_attributed"/>
            <p:cNvGrpSpPr/>
            <p:nvPr/>
          </p:nvGrpSpPr>
          <p:grpSpPr>
            <a:xfrm>
              <a:off x="447087" y="2991899"/>
              <a:ext cx="8435628" cy="354296"/>
              <a:chOff x="942375" y="1628825"/>
              <a:chExt cx="6647426" cy="443700"/>
            </a:xfrm>
          </p:grpSpPr>
          <p:sp>
            <p:nvSpPr>
              <p:cNvPr id="244" name="Google Shape;244;p18"/>
              <p:cNvSpPr txBox="1"/>
              <p:nvPr/>
            </p:nvSpPr>
            <p:spPr>
              <a:xfrm>
                <a:off x="942375" y="1634970"/>
                <a:ext cx="2163000" cy="43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r>
                  <a:rPr lang="en" sz="700" b="1" dirty="0">
                    <a:solidFill>
                      <a:srgbClr val="1F1F1F"/>
                    </a:solidFill>
                  </a:rPr>
                  <a:t>VBC Lives Attributed</a:t>
                </a:r>
                <a:endParaRPr lang="en-US" dirty="0"/>
              </a:p>
            </p:txBody>
          </p:sp>
          <p:sp>
            <p:nvSpPr>
              <p:cNvPr id="245" name="model_estimate_row_1"/>
              <p:cNvSpPr txBox="1"/>
              <p:nvPr/>
            </p:nvSpPr>
            <p:spPr>
              <a:xfrm>
                <a:off x="3122888" y="1634894"/>
                <a:ext cx="2163000" cy="20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 b="1">
                    <a:solidFill>
                      <a:srgbClr val="1F1F1F"/>
                    </a:solidFill>
                  </a:rPr>
                  <a:t>Impact</a:t>
                </a:r>
                <a:endParaRPr sz="708" b="1">
                  <a:solidFill>
                    <a:srgbClr val="1F1F1F"/>
                  </a:solidFill>
                </a:endParaRPr>
              </a:p>
            </p:txBody>
          </p:sp>
          <p:sp>
            <p:nvSpPr>
              <p:cNvPr id="246" name="user_input"/>
              <p:cNvSpPr txBox="1"/>
              <p:nvPr/>
            </p:nvSpPr>
            <p:spPr>
              <a:xfrm>
                <a:off x="5285801" y="1628825"/>
                <a:ext cx="2304000" cy="44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>
                    <a:solidFill>
                      <a:srgbClr val="1F1F1F"/>
                    </a:solidFill>
                  </a:rPr>
                  <a:t>Value Area</a:t>
                </a:r>
                <a:endParaRPr sz="708">
                  <a:solidFill>
                    <a:srgbClr val="1F1F1F"/>
                  </a:solidFill>
                </a:endParaRPr>
              </a:p>
            </p:txBody>
          </p:sp>
          <p:sp>
            <p:nvSpPr>
              <p:cNvPr id="247" name="model_estimate_row_2"/>
              <p:cNvSpPr txBox="1"/>
              <p:nvPr/>
            </p:nvSpPr>
            <p:spPr>
              <a:xfrm>
                <a:off x="3127763" y="1837756"/>
                <a:ext cx="2163000" cy="23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37">
                    <a:solidFill>
                      <a:srgbClr val="1F1F1F"/>
                    </a:solidFill>
                  </a:rPr>
                  <a:t>Impact</a:t>
                </a:r>
                <a:endParaRPr sz="537">
                  <a:solidFill>
                    <a:srgbClr val="1F1F1F"/>
                  </a:solidFill>
                </a:endParaRPr>
              </a:p>
            </p:txBody>
          </p:sp>
        </p:grpSp>
        <p:grpSp>
          <p:nvGrpSpPr>
            <p:cNvPr id="248" name="share_of_medicare_in_payer_mix"/>
            <p:cNvGrpSpPr/>
            <p:nvPr/>
          </p:nvGrpSpPr>
          <p:grpSpPr>
            <a:xfrm>
              <a:off x="447104" y="3346244"/>
              <a:ext cx="8435628" cy="354296"/>
              <a:chOff x="942375" y="1628825"/>
              <a:chExt cx="6647426" cy="443700"/>
            </a:xfrm>
          </p:grpSpPr>
          <p:sp>
            <p:nvSpPr>
              <p:cNvPr id="249" name="Google Shape;249;p18"/>
              <p:cNvSpPr txBox="1"/>
              <p:nvPr/>
            </p:nvSpPr>
            <p:spPr>
              <a:xfrm>
                <a:off x="942375" y="1634970"/>
                <a:ext cx="2163000" cy="43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 b="1">
                    <a:solidFill>
                      <a:srgbClr val="1F1F1F"/>
                    </a:solidFill>
                  </a:rPr>
                  <a:t>Share of Medicare in payer mix</a:t>
                </a:r>
                <a:endParaRPr sz="708" b="1">
                  <a:solidFill>
                    <a:srgbClr val="1F1F1F"/>
                  </a:solidFill>
                </a:endParaRPr>
              </a:p>
            </p:txBody>
          </p:sp>
          <p:sp>
            <p:nvSpPr>
              <p:cNvPr id="250" name="Google Shape;250;p18"/>
              <p:cNvSpPr txBox="1"/>
              <p:nvPr/>
            </p:nvSpPr>
            <p:spPr>
              <a:xfrm>
                <a:off x="3122888" y="1634894"/>
                <a:ext cx="2163000" cy="20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 b="1">
                    <a:solidFill>
                      <a:srgbClr val="1F1F1F"/>
                    </a:solidFill>
                  </a:rPr>
                  <a:t>Impact</a:t>
                </a:r>
                <a:endParaRPr sz="708" b="1">
                  <a:solidFill>
                    <a:srgbClr val="1F1F1F"/>
                  </a:solidFill>
                </a:endParaRPr>
              </a:p>
            </p:txBody>
          </p:sp>
          <p:sp>
            <p:nvSpPr>
              <p:cNvPr id="251" name="Google Shape;251;p18"/>
              <p:cNvSpPr txBox="1"/>
              <p:nvPr/>
            </p:nvSpPr>
            <p:spPr>
              <a:xfrm>
                <a:off x="5285801" y="1628825"/>
                <a:ext cx="2304000" cy="44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>
                    <a:solidFill>
                      <a:srgbClr val="1F1F1F"/>
                    </a:solidFill>
                  </a:rPr>
                  <a:t>Value Area</a:t>
                </a:r>
                <a:endParaRPr sz="708">
                  <a:solidFill>
                    <a:srgbClr val="1F1F1F"/>
                  </a:solidFill>
                </a:endParaRPr>
              </a:p>
            </p:txBody>
          </p:sp>
          <p:sp>
            <p:nvSpPr>
              <p:cNvPr id="252" name="Google Shape;252;p18"/>
              <p:cNvSpPr txBox="1"/>
              <p:nvPr/>
            </p:nvSpPr>
            <p:spPr>
              <a:xfrm>
                <a:off x="3127763" y="1837756"/>
                <a:ext cx="2163000" cy="23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37">
                    <a:solidFill>
                      <a:srgbClr val="1F1F1F"/>
                    </a:solidFill>
                  </a:rPr>
                  <a:t>Impact</a:t>
                </a:r>
                <a:endParaRPr sz="537">
                  <a:solidFill>
                    <a:srgbClr val="1F1F1F"/>
                  </a:solidFill>
                </a:endParaRPr>
              </a:p>
            </p:txBody>
          </p:sp>
        </p:grpSp>
        <p:grpSp>
          <p:nvGrpSpPr>
            <p:cNvPr id="253" name="number_of_care_managers"/>
            <p:cNvGrpSpPr/>
            <p:nvPr/>
          </p:nvGrpSpPr>
          <p:grpSpPr>
            <a:xfrm>
              <a:off x="447088" y="3732433"/>
              <a:ext cx="8435628" cy="354296"/>
              <a:chOff x="942375" y="1628825"/>
              <a:chExt cx="6647426" cy="443700"/>
            </a:xfrm>
          </p:grpSpPr>
          <p:sp>
            <p:nvSpPr>
              <p:cNvPr id="254" name="Google Shape;254;p18"/>
              <p:cNvSpPr txBox="1"/>
              <p:nvPr/>
            </p:nvSpPr>
            <p:spPr>
              <a:xfrm>
                <a:off x="942375" y="1634970"/>
                <a:ext cx="2163000" cy="43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 b="1">
                    <a:solidFill>
                      <a:srgbClr val="1F1F1F"/>
                    </a:solidFill>
                  </a:rPr>
                  <a:t>Number of Care Managers</a:t>
                </a:r>
                <a:endParaRPr sz="708" b="1">
                  <a:solidFill>
                    <a:srgbClr val="1F1F1F"/>
                  </a:solidFill>
                </a:endParaRPr>
              </a:p>
            </p:txBody>
          </p:sp>
          <p:sp>
            <p:nvSpPr>
              <p:cNvPr id="255" name="model_estimate_row_1"/>
              <p:cNvSpPr txBox="1"/>
              <p:nvPr/>
            </p:nvSpPr>
            <p:spPr>
              <a:xfrm>
                <a:off x="3122888" y="1634894"/>
                <a:ext cx="2163000" cy="20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 b="1">
                    <a:solidFill>
                      <a:srgbClr val="1F1F1F"/>
                    </a:solidFill>
                  </a:rPr>
                  <a:t>Impact</a:t>
                </a:r>
                <a:endParaRPr sz="708" b="1">
                  <a:solidFill>
                    <a:srgbClr val="1F1F1F"/>
                  </a:solidFill>
                </a:endParaRPr>
              </a:p>
            </p:txBody>
          </p:sp>
          <p:sp>
            <p:nvSpPr>
              <p:cNvPr id="256" name="user_input"/>
              <p:cNvSpPr txBox="1"/>
              <p:nvPr/>
            </p:nvSpPr>
            <p:spPr>
              <a:xfrm>
                <a:off x="5285801" y="1628825"/>
                <a:ext cx="2304000" cy="44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>
                    <a:solidFill>
                      <a:srgbClr val="1F1F1F"/>
                    </a:solidFill>
                  </a:rPr>
                  <a:t>Value Area</a:t>
                </a:r>
                <a:endParaRPr sz="708">
                  <a:solidFill>
                    <a:srgbClr val="1F1F1F"/>
                  </a:solidFill>
                </a:endParaRPr>
              </a:p>
            </p:txBody>
          </p:sp>
          <p:sp>
            <p:nvSpPr>
              <p:cNvPr id="257" name="model_estimate_row_2"/>
              <p:cNvSpPr txBox="1"/>
              <p:nvPr/>
            </p:nvSpPr>
            <p:spPr>
              <a:xfrm>
                <a:off x="3127763" y="1837756"/>
                <a:ext cx="2163000" cy="23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37">
                    <a:solidFill>
                      <a:srgbClr val="1F1F1F"/>
                    </a:solidFill>
                  </a:rPr>
                  <a:t>Impact</a:t>
                </a:r>
                <a:endParaRPr sz="537">
                  <a:solidFill>
                    <a:srgbClr val="1F1F1F"/>
                  </a:solidFill>
                </a:endParaRPr>
              </a:p>
            </p:txBody>
          </p:sp>
        </p:grpSp>
        <p:grpSp>
          <p:nvGrpSpPr>
            <p:cNvPr id="258" name="mssp_aco​"/>
            <p:cNvGrpSpPr/>
            <p:nvPr/>
          </p:nvGrpSpPr>
          <p:grpSpPr>
            <a:xfrm>
              <a:off x="447088" y="4118622"/>
              <a:ext cx="8435628" cy="354296"/>
              <a:chOff x="942375" y="1628825"/>
              <a:chExt cx="6647426" cy="443700"/>
            </a:xfrm>
          </p:grpSpPr>
          <p:sp>
            <p:nvSpPr>
              <p:cNvPr id="259" name="Google Shape;259;p18"/>
              <p:cNvSpPr txBox="1"/>
              <p:nvPr/>
            </p:nvSpPr>
            <p:spPr>
              <a:xfrm>
                <a:off x="942375" y="1634970"/>
                <a:ext cx="2163000" cy="43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 b="1">
                    <a:solidFill>
                      <a:srgbClr val="1F1F1F"/>
                    </a:solidFill>
                  </a:rPr>
                  <a:t>MSSP ACO</a:t>
                </a:r>
                <a:endParaRPr sz="708" b="1">
                  <a:solidFill>
                    <a:srgbClr val="1F1F1F"/>
                  </a:solidFill>
                </a:endParaRPr>
              </a:p>
            </p:txBody>
          </p:sp>
          <p:sp>
            <p:nvSpPr>
              <p:cNvPr id="260" name="model_estimate_row_1"/>
              <p:cNvSpPr txBox="1"/>
              <p:nvPr/>
            </p:nvSpPr>
            <p:spPr>
              <a:xfrm>
                <a:off x="3122888" y="1634894"/>
                <a:ext cx="2163000" cy="20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 b="1">
                    <a:solidFill>
                      <a:srgbClr val="1F1F1F"/>
                    </a:solidFill>
                  </a:rPr>
                  <a:t>Impact</a:t>
                </a:r>
                <a:endParaRPr sz="708" b="1">
                  <a:solidFill>
                    <a:srgbClr val="1F1F1F"/>
                  </a:solidFill>
                </a:endParaRPr>
              </a:p>
            </p:txBody>
          </p:sp>
          <p:sp>
            <p:nvSpPr>
              <p:cNvPr id="261" name="user_input"/>
              <p:cNvSpPr txBox="1"/>
              <p:nvPr/>
            </p:nvSpPr>
            <p:spPr>
              <a:xfrm>
                <a:off x="5285801" y="1628825"/>
                <a:ext cx="2304000" cy="44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8">
                    <a:solidFill>
                      <a:srgbClr val="1F1F1F"/>
                    </a:solidFill>
                  </a:rPr>
                  <a:t>Value Area</a:t>
                </a:r>
                <a:endParaRPr sz="708">
                  <a:solidFill>
                    <a:srgbClr val="1F1F1F"/>
                  </a:solidFill>
                </a:endParaRPr>
              </a:p>
            </p:txBody>
          </p:sp>
          <p:sp>
            <p:nvSpPr>
              <p:cNvPr id="262" name="model_estimate_row_2"/>
              <p:cNvSpPr txBox="1"/>
              <p:nvPr/>
            </p:nvSpPr>
            <p:spPr>
              <a:xfrm>
                <a:off x="3127763" y="1837756"/>
                <a:ext cx="2163000" cy="23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450" tIns="73450" rIns="73450" bIns="734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37">
                    <a:solidFill>
                      <a:srgbClr val="1F1F1F"/>
                    </a:solidFill>
                  </a:rPr>
                  <a:t>Impact</a:t>
                </a:r>
                <a:endParaRPr sz="537">
                  <a:solidFill>
                    <a:srgbClr val="1F1F1F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Simple Light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73</cp:revision>
  <dcterms:modified xsi:type="dcterms:W3CDTF">2025-12-02T18:41:08Z</dcterms:modified>
</cp:coreProperties>
</file>